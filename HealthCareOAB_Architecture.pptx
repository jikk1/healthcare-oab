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011680"/>
            <a:ext cx="7315200" cy="7315200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2926080"/>
            <a:ext cx="6858000" cy="6858000"/>
          </a:xfrm>
          <a:prstGeom prst="ellipse">
            <a:avLst/>
          </a:prstGeom>
          <a:solidFill>
            <a:srgbClr val="00E5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38944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85248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31552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77856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70464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16768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63072" y="5394960"/>
            <a:ext cx="36576" cy="36576"/>
          </a:xfrm>
          <a:prstGeom prst="ellipse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38944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85248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31552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77856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424160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70464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716768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63072" y="5541264"/>
            <a:ext cx="36576" cy="36576"/>
          </a:xfrm>
          <a:prstGeom prst="ellipse">
            <a:avLst/>
          </a:prstGeom>
          <a:solidFill>
            <a:srgbClr val="00E5FF">
              <a:alpha val="3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38944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985248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131552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277856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424160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70464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716768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863072" y="5687568"/>
            <a:ext cx="36576" cy="36576"/>
          </a:xfrm>
          <a:prstGeom prst="ellipse">
            <a:avLst/>
          </a:prstGeom>
          <a:solidFill>
            <a:srgbClr val="00E5FF">
              <a:alpha val="4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692640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838944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985248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131552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277856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424160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570464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716768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63072" y="5833872"/>
            <a:ext cx="36576" cy="36576"/>
          </a:xfrm>
          <a:prstGeom prst="ellipse">
            <a:avLst/>
          </a:prstGeom>
          <a:solidFill>
            <a:srgbClr val="00E5FF">
              <a:alpha val="4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 OAB+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72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Платформа предиктивной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медицины</a:t>
            </a:r>
            <a:endParaRPr lang="en-US" sz="5400" dirty="0"/>
          </a:p>
        </p:txBody>
      </p:sp>
      <p:sp>
        <p:nvSpPr>
          <p:cNvPr id="42" name="Text 40"/>
          <p:cNvSpPr/>
          <p:nvPr/>
        </p:nvSpPr>
        <p:spPr>
          <a:xfrm>
            <a:off x="822960" y="379476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Многопользовательская SaaS-система для клиник: объяснимая оценка рисков всех патологий, биологический возраст, сценарное моделирование вмешательств и популяционная аналитика поверх защищённых медицинских данных.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2960" y="5166360"/>
            <a:ext cx="1686154" cy="420624"/>
          </a:xfrm>
          <a:prstGeom prst="roundRect">
            <a:avLst>
              <a:gd name="adj" fmla="val 50000"/>
            </a:avLst>
          </a:prstGeom>
          <a:solidFill>
            <a:srgbClr val="121829"/>
          </a:solidFill>
          <a:ln w="12700">
            <a:solidFill>
              <a:srgbClr val="4AFF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166360"/>
            <a:ext cx="1686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Fastify · Node 20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10282" y="5166360"/>
            <a:ext cx="1854403" cy="420624"/>
          </a:xfrm>
          <a:prstGeom prst="roundRect">
            <a:avLst>
              <a:gd name="adj" fmla="val 50000"/>
            </a:avLst>
          </a:prstGeom>
          <a:solidFill>
            <a:srgbClr val="121829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10282" y="5166360"/>
            <a:ext cx="1854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· Prisma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65853" y="5166360"/>
            <a:ext cx="1517904" cy="420624"/>
          </a:xfrm>
          <a:prstGeom prst="roundRect">
            <a:avLst>
              <a:gd name="adj" fmla="val 50000"/>
            </a:avLst>
          </a:prstGeom>
          <a:solidFill>
            <a:srgbClr val="121829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5853" y="5166360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OmniRisk Engine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84925" y="5166360"/>
            <a:ext cx="1686154" cy="420624"/>
          </a:xfrm>
          <a:prstGeom prst="roundRect">
            <a:avLst>
              <a:gd name="adj" fmla="val 50000"/>
            </a:avLst>
          </a:prstGeom>
          <a:solidFill>
            <a:srgbClr val="121829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84925" y="5166360"/>
            <a:ext cx="1686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 / HIPAA-ready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структура данных проекта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ЗАЧЕМ СУЩЕСТВУЕТ ПРОЕКТ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что направлена платформа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566928" cy="566928"/>
          </a:xfrm>
          <a:prstGeom prst="ellipse">
            <a:avLst/>
          </a:prstGeom>
          <a:solidFill>
            <a:srgbClr val="05070F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Предсказывать, а не констатировать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0720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Выявлять риск инфаркта, инсульта, СД2, ХБП, онко и нейро- патологий за годы до клинического дебюта по мультимодальному профилю пациента.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84832"/>
            <a:ext cx="566928" cy="566928"/>
          </a:xfrm>
          <a:prstGeom prst="ellipse">
            <a:avLst/>
          </a:prstGeom>
          <a:solidFill>
            <a:srgbClr val="05070F"/>
          </a:solidFill>
          <a:ln w="19050">
            <a:solidFill>
              <a:srgbClr val="4AFFA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212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756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Объяснимость для врача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20840" y="280720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прогноз сопровождается SHAP-вкладами факторов: клиницист видит, почему оценка изменилась, и какие факторы модифицируемы.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" y="41605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62272"/>
            <a:ext cx="566928" cy="566928"/>
          </a:xfrm>
          <a:prstGeom prst="ellipse">
            <a:avLst/>
          </a:prstGeom>
          <a:solidFill>
            <a:srgbClr val="05070F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902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Сценарное вмешательство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60120" y="518464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двойник пациента отвечает на «что если»: бросить курить, начать статины — и пересчитывает траекторию риска.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462272"/>
            <a:ext cx="566928" cy="566928"/>
          </a:xfrm>
          <a:prstGeom prst="ellipse">
            <a:avLst/>
          </a:prstGeom>
          <a:solidFill>
            <a:srgbClr val="05070F"/>
          </a:solidFill>
          <a:ln w="19050">
            <a:solidFill>
              <a:srgbClr val="FF5E7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5902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531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данных (PHI)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720840" y="518464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 персональных данных, изоляция арендаторов и неподделываемый аудит каждого доступа к медицинской информации.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12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ВИД СВЕРХУ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Две самостоятельные части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Статический HTML / CSS / JS · офлайн-демо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898648"/>
            <a:ext cx="54864" cy="6035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3136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Премиум-лендинг: анимации, live-калькулятор риска, тарифы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648456"/>
            <a:ext cx="54864" cy="6035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602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dashboard.html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врача: когорты, графики Chart.js, сценарии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398264"/>
            <a:ext cx="54864" cy="6035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52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predict.html / omnirisk.js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46360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OmniRisk прямо в браузере — движок без бэкенда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5148072"/>
            <a:ext cx="54864" cy="6035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5102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 · api.js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53858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входа и слой обращения к API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178308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2395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Fastify · Prisma · PostgreSQL · Redis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2898648"/>
            <a:ext cx="54864" cy="603504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23" name="Text 21"/>
          <p:cNvSpPr/>
          <p:nvPr/>
        </p:nvSpPr>
        <p:spPr>
          <a:xfrm>
            <a:off x="6931152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Модульный монолит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31152" y="3136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деплой, строгие границы модулей src/modules/*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3648456"/>
            <a:ext cx="54864" cy="603504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3602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31152" y="3886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Аутентификация, пациенты, риски, биллинг, аудит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20840" y="4398264"/>
            <a:ext cx="54864" cy="603504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29" name="Text 27"/>
          <p:cNvSpPr/>
          <p:nvPr/>
        </p:nvSpPr>
        <p:spPr>
          <a:xfrm>
            <a:off x="6931152" y="43525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OmniRisk + Risk Engine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31152" y="46360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Детерминированное, версионированное ядро прогноза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20840" y="5148072"/>
            <a:ext cx="54864" cy="603504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32" name="Text 30"/>
          <p:cNvSpPr/>
          <p:nvPr/>
        </p:nvSpPr>
        <p:spPr>
          <a:xfrm>
            <a:off x="6931152" y="5102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Наблюдаемость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31152" y="53858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Health-пробы, RED-метрики, логи, трейсинг OTel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83480" y="36576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21829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 /v1/*  + JWT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6053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фронтенд работает на синтетических данных; интеграция с API — следующий шаг развития.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12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МОДУЛЬНЫЙ МОНОЛИТ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Карта бэкенда: ограниченные контексты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28800"/>
            <a:ext cx="2157984" cy="6400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вход, refresh, MFA, токены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71216" y="182880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71216" y="1828800"/>
            <a:ext cx="2157984" cy="6400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54096" y="23957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профиль, участники, роли, сессии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48072" y="182880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48072" y="1828800"/>
            <a:ext cx="2157984" cy="6400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30952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30952" y="23957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арендатора (tenant)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24928" y="182880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24928" y="1828800"/>
            <a:ext cx="2157984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18" name="Text 16"/>
          <p:cNvSpPr/>
          <p:nvPr/>
        </p:nvSpPr>
        <p:spPr>
          <a:xfrm>
            <a:off x="7607808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07808" y="23957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PHI-CRUD, репозиторий с tenant-scope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01784" y="182880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01784" y="1828800"/>
            <a:ext cx="2157984" cy="64008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22" name="Text 20"/>
          <p:cNvSpPr/>
          <p:nvPr/>
        </p:nvSpPr>
        <p:spPr>
          <a:xfrm>
            <a:off x="9884664" y="202996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84664" y="23957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рисков + рекомендации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15468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154680"/>
            <a:ext cx="2157984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3558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37216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OmniRisk: 6 слоёв ИИ, цифр. двойник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71216" y="315468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71216" y="3154680"/>
            <a:ext cx="2157984" cy="64008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30" name="Text 28"/>
          <p:cNvSpPr/>
          <p:nvPr/>
        </p:nvSpPr>
        <p:spPr>
          <a:xfrm>
            <a:off x="3054096" y="33558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054096" y="37216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популяционные read-модели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48072" y="315468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48072" y="3154680"/>
            <a:ext cx="2157984" cy="64008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34" name="Text 32"/>
          <p:cNvSpPr/>
          <p:nvPr/>
        </p:nvSpPr>
        <p:spPr>
          <a:xfrm>
            <a:off x="5330952" y="33558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30952" y="37216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тарифы, лимиты, подписка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24928" y="315468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24928" y="3154680"/>
            <a:ext cx="2157984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8" name="Text 36"/>
          <p:cNvSpPr/>
          <p:nvPr/>
        </p:nvSpPr>
        <p:spPr>
          <a:xfrm>
            <a:off x="7607808" y="33558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07808" y="37216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хэш-цепочка аудит-лога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01784" y="3154680"/>
            <a:ext cx="2157984" cy="1207008"/>
          </a:xfrm>
          <a:prstGeom prst="roundRect">
            <a:avLst>
              <a:gd name="adj" fmla="val 6061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701784" y="3154680"/>
            <a:ext cx="2157984" cy="64008"/>
          </a:xfrm>
          <a:prstGeom prst="rect">
            <a:avLst/>
          </a:prstGeom>
          <a:solidFill>
            <a:srgbClr val="A6AFC4"/>
          </a:solidFill>
          <a:ln/>
        </p:spPr>
      </p:sp>
      <p:sp>
        <p:nvSpPr>
          <p:cNvPr id="42" name="Text 40"/>
          <p:cNvSpPr/>
          <p:nvPr/>
        </p:nvSpPr>
        <p:spPr>
          <a:xfrm>
            <a:off x="9884664" y="33558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884664" y="372160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пробы + метрики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" y="4526280"/>
            <a:ext cx="10954512" cy="1417320"/>
          </a:xfrm>
          <a:prstGeom prst="roundRect">
            <a:avLst>
              <a:gd name="adj" fmla="val 5161"/>
            </a:avLst>
          </a:prstGeom>
          <a:solidFill>
            <a:srgbClr val="121829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Сквозные слои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4983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shared/</a:t>
            </a:r>
            <a:pPr indent="0" marL="0"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crypto · jwt · prisma · redis · logger · metrics · tracing · errors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53218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</a:t>
            </a:r>
            <a:pPr indent="0" marL="0"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request-context · security · auth · rate-limit · error-handler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" y="5660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workers/</a:t>
            </a:r>
            <a:pPr indent="0" marL="0"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outbox-dispatcher (transactional outbox → at-least-once доставка событий)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12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ЖИЗНЕННЫЙ ЦИКЛ ЗАПРОСА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запроса через систему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0954512" cy="950976"/>
          </a:xfrm>
          <a:prstGeom prst="roundRect">
            <a:avLst>
              <a:gd name="adj" fmla="val 7692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93976"/>
            <a:ext cx="512064" cy="51206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939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0208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onRequest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200253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Correlation-ID → security-заголовки (helmet/CORS) → rate-limit (Redis token-bucket по user/IP)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9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10954512" cy="950976"/>
          </a:xfrm>
          <a:prstGeom prst="roundRect">
            <a:avLst>
              <a:gd name="adj" fmla="val 7692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172968"/>
            <a:ext cx="512064" cy="51206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0998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preHandler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3081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— проверка JWT и глобального denylist → requireRole — RBAC по роли членства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3867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9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032504"/>
            <a:ext cx="10954512" cy="950976"/>
          </a:xfrm>
          <a:prstGeom prst="roundRect">
            <a:avLst>
              <a:gd name="adj" fmla="val 7692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51960"/>
            <a:ext cx="512064" cy="51206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4AFF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178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41605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Zod-валидация входа → сервис модуля → доменное ядро (чистая логика, без I/O)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" y="49469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9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5111496"/>
            <a:ext cx="10954512" cy="950976"/>
          </a:xfrm>
          <a:prstGeom prst="roundRect">
            <a:avLst>
              <a:gd name="adj" fmla="val 7692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5330952"/>
            <a:ext cx="512064" cy="51206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FFB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30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0200" y="5257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onResponse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23360" y="523951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RED-метрики маршрута. Любой throw → единый error-handler → стабильный конверт ответа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MODULES/PREDICTION · ЯДРО ПРОГНОЗА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OmniRisk — 6-слойная архитектура 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Детерминированный объяснимый ансамбль, повторяющий архитектуру и выход обучаемой системы (коэффициенты калибруются на реальных когортах).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№1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737360" y="2267712"/>
            <a:ext cx="0" cy="82296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Трансформеры ЭМК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920240" y="2798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электронной мед. карты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201168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№2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449824" y="2267712"/>
            <a:ext cx="0" cy="82296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Графовые сети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32704" y="2798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Пациент↔Ген↔Белок↔…↔Болезнь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9288" y="201168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0456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№3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162288" y="2267712"/>
            <a:ext cx="0" cy="82296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Временные ряды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45168" y="2798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биомаркеров во времени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56616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5528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№4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737360" y="3822192"/>
            <a:ext cx="0" cy="82296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Модели выживаемости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920240" y="4352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/ Deep Survival, горизонты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06824" y="356616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7992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№5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5449824" y="3822192"/>
            <a:ext cx="0" cy="82296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2704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Причинно-следственный ИИ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32704" y="4352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Контрфактика «что если»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9288" y="3566160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0456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№6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9162288" y="3822192"/>
            <a:ext cx="0" cy="82296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45168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Мультимодальное объединение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345168" y="4352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всех сигналов в прогноз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5413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 слоёв:  </a:t>
            </a:r>
            <a:pPr algn="ctr" indent="0" marL="0">
              <a:buNone/>
            </a:pPr>
            <a:r>
              <a:rPr lang="en-US" sz="135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двойник человека</a:t>
            </a:r>
            <a:pPr algn="ctr" indent="0" marL="0">
              <a:buNone/>
            </a:pPr>
            <a:r>
              <a:rPr lang="en-US" sz="13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системы организма и их реакция на лечение.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· 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ДОМЕННОЕ ЯДРО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Свойства движка и выход модели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Гарантии движка (покрыты юнит-тестами)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694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5420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Детерминированность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8163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I/O и часов: один вход → один выход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3697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09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4838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знаковые SHAP-вклады, отсортированы по влиянию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044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Монотонность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41513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вредного фактора не снижает риск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7200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544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Ограниченность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234440" y="48188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домен-риск зажат в допустимые рамки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23951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212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Версионирование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234440" y="54864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MODEL_VERSION → прогнозы воспроизводимы и аудируемы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26364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E2742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537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Выход модели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537960" y="2578608"/>
            <a:ext cx="54864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Text 17"/>
          <p:cNvSpPr/>
          <p:nvPr/>
        </p:nvSpPr>
        <p:spPr>
          <a:xfrm>
            <a:off x="6748272" y="25420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overallRisk · riskLevel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748272" y="2816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агрегатный риск и уровень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537960" y="3145536"/>
            <a:ext cx="54864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7" name="Text 20"/>
          <p:cNvSpPr/>
          <p:nvPr/>
        </p:nvSpPr>
        <p:spPr>
          <a:xfrm>
            <a:off x="6748272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домен-рисков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748272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· MI · stroke · DM · onco · neuro · CKD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537960" y="3712464"/>
            <a:ext cx="54864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Text 23"/>
          <p:cNvSpPr/>
          <p:nvPr/>
        </p:nvSpPr>
        <p:spPr>
          <a:xfrm>
            <a:off x="6748272" y="3675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bioAge / chronoAge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748272" y="3950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биологический против хронологического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537960" y="4279392"/>
            <a:ext cx="54864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3" name="Text 26"/>
          <p:cNvSpPr/>
          <p:nvPr/>
        </p:nvSpPr>
        <p:spPr>
          <a:xfrm>
            <a:off x="6748272" y="42428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shapFactors (JSON)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748272" y="4517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 feature, value, modifiable }]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537960" y="4846320"/>
            <a:ext cx="54864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6" name="Text 29"/>
          <p:cNvSpPr/>
          <p:nvPr/>
        </p:nvSpPr>
        <p:spPr>
          <a:xfrm>
            <a:off x="6748272" y="48097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(JSON)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748272" y="50840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доверительные интервалы по доменам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537960" y="5413248"/>
            <a:ext cx="54864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9" name="Text 32"/>
          <p:cNvSpPr/>
          <p:nvPr/>
        </p:nvSpPr>
        <p:spPr>
          <a:xfrm>
            <a:off x="6748272" y="5376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10-летняя траектория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6748272" y="5650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сценарного симулятора вмешательств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· 12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B5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· POSTGRESQL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06040" cy="1993392"/>
          </a:xfrm>
          <a:prstGeom prst="roundRect">
            <a:avLst>
              <a:gd name="adj" fmla="val 2752"/>
            </a:avLst>
          </a:prstGeom>
          <a:solidFill>
            <a:srgbClr val="171E33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26060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slug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2240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· tz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patients[]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subscription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1783080"/>
            <a:ext cx="2788920" cy="1993392"/>
          </a:xfrm>
          <a:prstGeom prst="roundRect">
            <a:avLst>
              <a:gd name="adj" fmla="val 2752"/>
            </a:avLst>
          </a:prstGeom>
          <a:solidFill>
            <a:srgbClr val="171E33"/>
          </a:solidFill>
          <a:ln w="15240">
            <a:solidFill>
              <a:srgbClr val="FF5E7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20440" y="1783080"/>
            <a:ext cx="2788920" cy="38404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783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2240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2240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2514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firstNameEnc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0" y="2788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lastNameEnc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4068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3063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 · ageYears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3337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latestRisk* cache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068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1783080"/>
            <a:ext cx="2514600" cy="1993392"/>
          </a:xfrm>
          <a:prstGeom prst="roundRect">
            <a:avLst>
              <a:gd name="adj" fmla="val 2752"/>
            </a:avLst>
          </a:prstGeom>
          <a:solidFill>
            <a:srgbClr val="171E33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1783080"/>
            <a:ext cx="2514600" cy="38404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1783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BiomarkerSet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2240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systolicBp · ldl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75320" y="2240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vitals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hba1c · bmi · egfr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7532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smokingStatus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7532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familyHistory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7532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6560" y="33375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onStatins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7532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418320" y="1783080"/>
            <a:ext cx="2148840" cy="1993392"/>
          </a:xfrm>
          <a:prstGeom prst="roundRect">
            <a:avLst>
              <a:gd name="adj" fmla="val 2752"/>
            </a:avLst>
          </a:prstGeom>
          <a:solidFill>
            <a:srgbClr val="171E33"/>
          </a:solidFill>
          <a:ln w="15240">
            <a:solidFill>
              <a:srgbClr val="4AFF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418320" y="1783080"/>
            <a:ext cx="2148840" cy="384048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45" name="Text 43"/>
          <p:cNvSpPr/>
          <p:nvPr/>
        </p:nvSpPr>
        <p:spPr>
          <a:xfrm>
            <a:off x="9555480" y="1783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7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RiskAssessment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555480" y="22402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modelVersion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698480" y="2240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555480" y="25146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overallRisk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69848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555480" y="2788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домен-рисков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698480" y="2788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555480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shapFactors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69848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5548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69848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0" y="1975104"/>
            <a:ext cx="320040" cy="0"/>
          </a:xfrm>
          <a:prstGeom prst="line">
            <a:avLst/>
          </a:prstGeom>
          <a:noFill/>
          <a:ln w="19050">
            <a:solidFill>
              <a:srgbClr val="6B748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309360" y="1975104"/>
            <a:ext cx="320040" cy="0"/>
          </a:xfrm>
          <a:prstGeom prst="line">
            <a:avLst/>
          </a:prstGeom>
          <a:noFill/>
          <a:ln w="19050">
            <a:solidFill>
              <a:srgbClr val="6B7489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144000" y="1975104"/>
            <a:ext cx="274320" cy="0"/>
          </a:xfrm>
          <a:prstGeom prst="line">
            <a:avLst/>
          </a:prstGeom>
          <a:noFill/>
          <a:ln w="19050">
            <a:solidFill>
              <a:srgbClr val="6B7489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94360" y="4160520"/>
            <a:ext cx="10954512" cy="566928"/>
          </a:xfrm>
          <a:prstGeom prst="roundRect">
            <a:avLst>
              <a:gd name="adj" fmla="val 9677"/>
            </a:avLst>
          </a:prstGeom>
          <a:solidFill>
            <a:srgbClr val="121829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1" name="Text 59"/>
          <p:cNvSpPr/>
          <p:nvPr/>
        </p:nvSpPr>
        <p:spPr>
          <a:xfrm>
            <a:off x="1097280" y="41605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Доступ и личность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840480" y="4160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· Membership(Role) · Session · MfaCredential · PasswordResetToken · EmailVerificationToken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94360" y="4818888"/>
            <a:ext cx="10954512" cy="566928"/>
          </a:xfrm>
          <a:prstGeom prst="roundRect">
            <a:avLst>
              <a:gd name="adj" fmla="val 9677"/>
            </a:avLst>
          </a:prstGeom>
          <a:solidFill>
            <a:srgbClr val="121829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" y="5001768"/>
            <a:ext cx="201168" cy="201168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65" name="Text 63"/>
          <p:cNvSpPr/>
          <p:nvPr/>
        </p:nvSpPr>
        <p:spPr>
          <a:xfrm>
            <a:off x="1097280" y="4818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Биллинг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840480" y="4818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Subscription(Plan, Status) · Invoice(InvoiceStatus) · ApiKey · Webhook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94360" y="5477256"/>
            <a:ext cx="10954512" cy="566928"/>
          </a:xfrm>
          <a:prstGeom prst="roundRect">
            <a:avLst>
              <a:gd name="adj" fmla="val 9677"/>
            </a:avLst>
          </a:prstGeom>
          <a:solidFill>
            <a:srgbClr val="121829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240" y="5660136"/>
            <a:ext cx="201168" cy="201168"/>
          </a:xfrm>
          <a:prstGeom prst="ellipse">
            <a:avLst/>
          </a:prstGeom>
          <a:solidFill>
            <a:srgbClr val="FF5E7E"/>
          </a:solidFill>
          <a:ln/>
        </p:spPr>
      </p:sp>
      <p:sp>
        <p:nvSpPr>
          <p:cNvPr id="69" name="Text 67"/>
          <p:cNvSpPr/>
          <p:nvPr/>
        </p:nvSpPr>
        <p:spPr>
          <a:xfrm>
            <a:off x="1097280" y="54772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Целостность и аудит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3840480" y="5477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 (hash-chain) · OutboxEvent (transactional outbox) · IdempotencyKey · Recommendation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· 12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 SAFETY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 и защита данных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603504" cy="60350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21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Аутентификация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25856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Короткоживущие JWT (HS256, ~15 мин) + ротация opaque refresh-токенов по «семьям»: повтор использованного токена = кража → отзыв всей семьи.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75688"/>
            <a:ext cx="603504" cy="60350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21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19476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Авторизация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51192" y="225856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по роли членства + изоляция арендаторов (ABAC) на уровне репозитория: каждый PHI-запрос scoped по organizationId.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4360" y="3163824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456432"/>
            <a:ext cx="603504" cy="60350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4AFFA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027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284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 в покое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363931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и дата рождения — AES-256-GCM (аутентифицированное шифрование, подмена fail-closed). Демография — открыто для аналитики.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45352" y="3163824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456432"/>
            <a:ext cx="603504" cy="60350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FFB54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6027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51192" y="33284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Пароли и MFA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51192" y="363931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с lockout после 5 попыток; TOTP с шифрованными секретами и хэшированными одноразовыми recovery-кодами.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" y="4544568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837176"/>
            <a:ext cx="603504" cy="60350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FF5E7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8348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7091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Аудит без подделки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502005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запись хэширует prevHash + payload → цепочка. GET /v1/audit/verify пересчитывает и находит первый разрыв.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45352" y="4544568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3952" y="4837176"/>
            <a:ext cx="603504" cy="603504"/>
          </a:xfrm>
          <a:prstGeom prst="ellipse">
            <a:avLst/>
          </a:prstGeom>
          <a:solidFill>
            <a:srgbClr val="05070F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98348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51192" y="47091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Транспорт и секреты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51192" y="502005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HSTS, строгий CSP, CORS-allowlist, HttpOnly/SameSite cookie. Секреты валидируются на старте, в prod — из KMS/Vault.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· 12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НАДЁЖНОСТЬ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Паттерны данных и согласованности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05070F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311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Денормализованный кэш риска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latestRiskLevel/cvRisk/dmRisk/bioAge на Patient — быстрые списки и обзор, атомарно обновляется при сохранении оценки.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7830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75688"/>
            <a:ext cx="640080" cy="640080"/>
          </a:xfrm>
          <a:prstGeom prst="ellipse">
            <a:avLst/>
          </a:prstGeom>
          <a:solidFill>
            <a:srgbClr val="05070F"/>
          </a:solidFill>
          <a:ln w="19050">
            <a:solidFill>
              <a:srgbClr val="4AFFA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311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Transactional outbox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65392" y="2788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события пишутся в той же транзакции, что и изменение состояния; worker доставляет их → at-least-once без двойной записи.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7490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041648"/>
            <a:ext cx="640080" cy="640080"/>
          </a:xfrm>
          <a:prstGeom prst="ellipse">
            <a:avLst/>
          </a:prstGeom>
          <a:solidFill>
            <a:srgbClr val="05070F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1970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Idempotency-ключи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14400" y="47548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Безопасные повторы мутирующих запросов: один и тот же ключ не выполняет операцию дважды.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7490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041648"/>
            <a:ext cx="640080" cy="640080"/>
          </a:xfrm>
          <a:prstGeom prst="ellipse">
            <a:avLst/>
          </a:prstGeom>
          <a:solidFill>
            <a:srgbClr val="05070F"/>
          </a:solidFill>
          <a:ln w="19050">
            <a:solidFill>
              <a:srgbClr val="FF5E7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1970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Tamper-evident аудит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65392" y="47548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Хэш-цепочка журнала доступа к PHI: «кто, к каким данным, когда» — с криптографической проверкой целостности.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12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Наблюдаемость и развёртывание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2615184" cy="7315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Логи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3816" y="2569464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05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— структурный JSON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" y="3081528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защитная редакция PHI/секретов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" y="3593592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29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в dev, raw в prod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74136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74136" y="1783080"/>
            <a:ext cx="2615184" cy="73152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15" name="Text 13"/>
          <p:cNvSpPr/>
          <p:nvPr/>
        </p:nvSpPr>
        <p:spPr>
          <a:xfrm>
            <a:off x="3575304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Метрики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93592" y="2569464"/>
            <a:ext cx="91440" cy="91440"/>
          </a:xfrm>
          <a:prstGeom prst="ellipse">
            <a:avLst/>
          </a:prstGeom>
          <a:solidFill>
            <a:srgbClr val="4AFFAA"/>
          </a:solidFill>
          <a:ln/>
        </p:spPr>
      </p:sp>
      <p:sp>
        <p:nvSpPr>
          <p:cNvPr id="17" name="Text 15"/>
          <p:cNvSpPr/>
          <p:nvPr/>
        </p:nvSpPr>
        <p:spPr>
          <a:xfrm>
            <a:off x="3785616" y="2505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prom-client RED по маршрутам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93592" y="3081528"/>
            <a:ext cx="91440" cy="91440"/>
          </a:xfrm>
          <a:prstGeom prst="ellipse">
            <a:avLst/>
          </a:prstGeom>
          <a:solidFill>
            <a:srgbClr val="4AFFAA"/>
          </a:solidFill>
          <a:ln/>
        </p:spPr>
      </p:sp>
      <p:sp>
        <p:nvSpPr>
          <p:cNvPr id="19" name="Text 17"/>
          <p:cNvSpPr/>
          <p:nvPr/>
        </p:nvSpPr>
        <p:spPr>
          <a:xfrm>
            <a:off x="3785616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счётчики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93592" y="3593592"/>
            <a:ext cx="91440" cy="91440"/>
          </a:xfrm>
          <a:prstGeom prst="ellipse">
            <a:avLst/>
          </a:prstGeom>
          <a:solidFill>
            <a:srgbClr val="4AFFAA"/>
          </a:solidFill>
          <a:ln/>
        </p:spPr>
      </p:sp>
      <p:sp>
        <p:nvSpPr>
          <p:cNvPr id="21" name="Text 19"/>
          <p:cNvSpPr/>
          <p:nvPr/>
        </p:nvSpPr>
        <p:spPr>
          <a:xfrm>
            <a:off x="3785616" y="3529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 /metrics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53912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53912" y="1783080"/>
            <a:ext cx="2615184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Трейсинг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73368" y="256946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2505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auto-instr.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73368" y="30815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→ Jaeger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73368" y="3593592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3529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OTEL_ENABLED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33688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33688" y="1783080"/>
            <a:ext cx="2615184" cy="73152"/>
          </a:xfrm>
          <a:prstGeom prst="rect">
            <a:avLst/>
          </a:prstGeom>
          <a:solidFill>
            <a:srgbClr val="FFB547"/>
          </a:solidFill>
          <a:ln/>
        </p:spPr>
      </p:sp>
      <p:sp>
        <p:nvSpPr>
          <p:cNvPr id="33" name="Text 31"/>
          <p:cNvSpPr/>
          <p:nvPr/>
        </p:nvSpPr>
        <p:spPr>
          <a:xfrm>
            <a:off x="9134856" y="1993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53144" y="2569464"/>
            <a:ext cx="91440" cy="9144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5" name="Text 33"/>
          <p:cNvSpPr/>
          <p:nvPr/>
        </p:nvSpPr>
        <p:spPr>
          <a:xfrm>
            <a:off x="9345168" y="2505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/health/live — liveness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53144" y="3081528"/>
            <a:ext cx="91440" cy="9144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7" name="Text 35"/>
          <p:cNvSpPr/>
          <p:nvPr/>
        </p:nvSpPr>
        <p:spPr>
          <a:xfrm>
            <a:off x="9345168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/health/ready — DB + Redis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53144" y="3593592"/>
            <a:ext cx="91440" cy="91440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39" name="Text 37"/>
          <p:cNvSpPr/>
          <p:nvPr/>
        </p:nvSpPr>
        <p:spPr>
          <a:xfrm>
            <a:off x="9345168" y="3529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пробы для k8s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4360" y="4343400"/>
            <a:ext cx="10954512" cy="1600200"/>
          </a:xfrm>
          <a:prstGeom prst="roundRect">
            <a:avLst>
              <a:gd name="adj" fmla="val 4571"/>
            </a:avLst>
          </a:prstGeom>
          <a:solidFill>
            <a:srgbClr val="121829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Развёртывание и масштабирование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2960" y="49377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22960" y="52303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non-root, read-only FS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17520" y="49377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 app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017520" y="52303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сессии/rate-limit/denylist в Redis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49377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212080" y="52303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+ HPA, миграции как Job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06640" y="49377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406640" y="52303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RDS + ElastiCache + ECR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0" y="49377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F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601200" y="52303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typecheck · unit · integration · build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820095" y="6446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HealthCareOAB+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7315200" cy="73152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7315200" cy="73152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17904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64208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10512" y="5394960"/>
            <a:ext cx="36576" cy="36576"/>
          </a:xfrm>
          <a:prstGeom prst="ellipse">
            <a:avLst/>
          </a:prstGeom>
          <a:solidFill>
            <a:srgbClr val="4AFFAA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8992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25296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17904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64208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0512" y="5541264"/>
            <a:ext cx="36576" cy="36576"/>
          </a:xfrm>
          <a:prstGeom prst="ellipse">
            <a:avLst/>
          </a:prstGeom>
          <a:solidFill>
            <a:srgbClr val="4AFFAA">
              <a:alpha val="3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78992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25296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17904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64208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687568"/>
            <a:ext cx="36576" cy="36576"/>
          </a:xfrm>
          <a:prstGeom prst="ellipse">
            <a:avLst/>
          </a:prstGeom>
          <a:solidFill>
            <a:srgbClr val="4AFFAA">
              <a:alpha val="4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78992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25296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371600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17904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664208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810512" y="5833872"/>
            <a:ext cx="36576" cy="36576"/>
          </a:xfrm>
          <a:prstGeom prst="ellipse">
            <a:avLst/>
          </a:prstGeom>
          <a:solidFill>
            <a:srgbClr val="4AFFAA">
              <a:alpha val="4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Стек и итоговая картина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822960" y="20574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2960" y="2057400"/>
            <a:ext cx="82296" cy="22860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4" name="Text 42"/>
          <p:cNvSpPr/>
          <p:nvPr/>
        </p:nvSpPr>
        <p:spPr>
          <a:xfrm>
            <a:off x="114300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143000" y="2788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· Lenis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OmniRisk в браузере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Офлайн-демо &lt; 100 KB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434840" y="20574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434840" y="2057400"/>
            <a:ext cx="82296" cy="2286000"/>
          </a:xfrm>
          <a:prstGeom prst="rect">
            <a:avLst/>
          </a:prstGeom>
          <a:solidFill>
            <a:srgbClr val="4AFFAA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F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754880" y="2788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Fastify · TypeScript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· PostgreSQL · Redis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· argon2 · JWT · OTel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Модульный монолит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046720" y="20574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71E33"/>
          </a:solidFill>
          <a:ln w="12700">
            <a:solidFill>
              <a:srgbClr val="2A355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046720" y="2057400"/>
            <a:ext cx="82296" cy="2286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Core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366760" y="2788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OmniRisk — 6 слоёв ИИ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двойник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 (SHAP)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 + версионирован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HealthCareOAB+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6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безопасная, аудируемая и горизонтально масштабируемая платформа, превращающая мультимодальные данные пациента в объяснимый прогноз и план вмешательства.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296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Инструмент поддержки принятия решений, не диагностическое устройство.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HealthCareOAB+ — Архитектура платформы предиктивной медицины</dc:title>
  <dc:subject>PptxGenJS Presentation</dc:subject>
  <dc:creator>HealthCareOAB+</dc:creator>
  <cp:lastModifiedBy>HealthCareOAB+</cp:lastModifiedBy>
  <cp:revision>1</cp:revision>
  <dcterms:created xsi:type="dcterms:W3CDTF">2026-06-19T04:39:21Z</dcterms:created>
  <dcterms:modified xsi:type="dcterms:W3CDTF">2026-06-19T04:39:21Z</dcterms:modified>
</cp:coreProperties>
</file>